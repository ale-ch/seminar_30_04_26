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1" r:id="rId5"/>
    <p:sldId id="262" r:id="rId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778" userDrawn="1">
          <p15:clr>
            <a:srgbClr val="A4A3A4"/>
          </p15:clr>
        </p15:guide>
        <p15:guide id="3" orient="horz" pos="799" userDrawn="1">
          <p15:clr>
            <a:srgbClr val="A4A3A4"/>
          </p15:clr>
        </p15:guide>
        <p15:guide id="4" pos="7355" userDrawn="1">
          <p15:clr>
            <a:srgbClr val="A4A3A4"/>
          </p15:clr>
        </p15:guide>
        <p15:guide id="5" pos="4067" userDrawn="1">
          <p15:clr>
            <a:srgbClr val="A4A3A4"/>
          </p15:clr>
        </p15:guide>
        <p15:guide id="6" orient="horz" pos="1026" userDrawn="1">
          <p15:clr>
            <a:srgbClr val="A4A3A4"/>
          </p15:clr>
        </p15:guide>
        <p15:guide id="7" orient="horz" pos="3748" userDrawn="1">
          <p15:clr>
            <a:srgbClr val="A4A3A4"/>
          </p15:clr>
        </p15:guide>
        <p15:guide id="8" pos="4180" userDrawn="1">
          <p15:clr>
            <a:srgbClr val="A4A3A4"/>
          </p15:clr>
        </p15:guide>
        <p15:guide id="9" pos="39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B52"/>
    <a:srgbClr val="1D396B"/>
    <a:srgbClr val="E13A3A"/>
    <a:srgbClr val="EF8F3A"/>
    <a:srgbClr val="A64A59"/>
    <a:srgbClr val="6AB653"/>
    <a:srgbClr val="00437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0"/>
  </p:normalViewPr>
  <p:slideViewPr>
    <p:cSldViewPr snapToGrid="0" showGuides="1">
      <p:cViewPr varScale="1">
        <p:scale>
          <a:sx n="63" d="100"/>
          <a:sy n="63" d="100"/>
        </p:scale>
        <p:origin x="780" y="52"/>
      </p:cViewPr>
      <p:guideLst>
        <p:guide orient="horz" pos="572"/>
        <p:guide pos="778"/>
        <p:guide orient="horz" pos="799"/>
        <p:guide pos="7355"/>
        <p:guide pos="4067"/>
        <p:guide orient="horz" pos="1026"/>
        <p:guide orient="horz" pos="3748"/>
        <p:guide pos="4180"/>
        <p:guide pos="39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17BD4E79-9AE2-6923-116F-B58A6A0EAACD}"/>
              </a:ext>
            </a:extLst>
          </p:cNvPr>
          <p:cNvPicPr/>
          <p:nvPr userDrawn="1"/>
        </p:nvPicPr>
        <p:blipFill>
          <a:blip r:embed="rId2" cstate="print"/>
          <a:stretch>
            <a:fillRect/>
          </a:stretch>
        </p:blipFill>
        <p:spPr>
          <a:xfrm>
            <a:off x="0" y="0"/>
            <a:ext cx="720001" cy="6858000"/>
          </a:xfrm>
          <a:prstGeom prst="rect">
            <a:avLst/>
          </a:prstGeom>
        </p:spPr>
      </p:pic>
      <p:pic>
        <p:nvPicPr>
          <p:cNvPr id="11" name="object 3">
            <a:extLst>
              <a:ext uri="{FF2B5EF4-FFF2-40B4-BE49-F238E27FC236}">
                <a16:creationId xmlns:a16="http://schemas.microsoft.com/office/drawing/2014/main" id="{695847C8-B37E-B55D-A558-915CF3A8823C}"/>
              </a:ext>
            </a:extLst>
          </p:cNvPr>
          <p:cNvPicPr/>
          <p:nvPr userDrawn="1"/>
        </p:nvPicPr>
        <p:blipFill>
          <a:blip r:embed="rId3" cstate="print"/>
          <a:stretch>
            <a:fillRect/>
          </a:stretch>
        </p:blipFill>
        <p:spPr>
          <a:xfrm>
            <a:off x="12087594" y="0"/>
            <a:ext cx="104406" cy="6858000"/>
          </a:xfrm>
          <a:prstGeom prst="rect">
            <a:avLst/>
          </a:prstGeom>
        </p:spPr>
      </p:pic>
      <p:pic>
        <p:nvPicPr>
          <p:cNvPr id="12" name="Immagine 11">
            <a:extLst>
              <a:ext uri="{FF2B5EF4-FFF2-40B4-BE49-F238E27FC236}">
                <a16:creationId xmlns:a16="http://schemas.microsoft.com/office/drawing/2014/main" id="{6015A1C9-153F-BD25-188F-A855B9B0D69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19200" y="0"/>
            <a:ext cx="5401056" cy="3599688"/>
          </a:xfrm>
          <a:prstGeom prst="rect">
            <a:avLst/>
          </a:prstGeom>
        </p:spPr>
      </p:pic>
    </p:spTree>
    <p:extLst>
      <p:ext uri="{BB962C8B-B14F-4D97-AF65-F5344CB8AC3E}">
        <p14:creationId xmlns:p14="http://schemas.microsoft.com/office/powerpoint/2010/main" val="31394785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E4039842-8DC1-47E1-9C53-A070F23410DD}"/>
              </a:ext>
            </a:extLst>
          </p:cNvPr>
          <p:cNvPicPr/>
          <p:nvPr userDrawn="1"/>
        </p:nvPicPr>
        <p:blipFill>
          <a:blip r:embed="rId2" cstate="print"/>
          <a:stretch>
            <a:fillRect/>
          </a:stretch>
        </p:blipFill>
        <p:spPr>
          <a:xfrm>
            <a:off x="0" y="0"/>
            <a:ext cx="720001" cy="6858000"/>
          </a:xfrm>
          <a:prstGeom prst="rect">
            <a:avLst/>
          </a:prstGeom>
        </p:spPr>
      </p:pic>
      <p:pic>
        <p:nvPicPr>
          <p:cNvPr id="8" name="object 3">
            <a:extLst>
              <a:ext uri="{FF2B5EF4-FFF2-40B4-BE49-F238E27FC236}">
                <a16:creationId xmlns:a16="http://schemas.microsoft.com/office/drawing/2014/main" id="{E753EBA9-56D5-601E-E0E0-9359935BBE5E}"/>
              </a:ext>
            </a:extLst>
          </p:cNvPr>
          <p:cNvPicPr/>
          <p:nvPr userDrawn="1"/>
        </p:nvPicPr>
        <p:blipFill>
          <a:blip r:embed="rId3" cstate="print"/>
          <a:stretch>
            <a:fillRect/>
          </a:stretch>
        </p:blipFill>
        <p:spPr>
          <a:xfrm>
            <a:off x="12087594" y="0"/>
            <a:ext cx="104406" cy="6858000"/>
          </a:xfrm>
          <a:prstGeom prst="rect">
            <a:avLst/>
          </a:prstGeom>
        </p:spPr>
      </p:pic>
      <p:pic>
        <p:nvPicPr>
          <p:cNvPr id="9" name="Immagine 8">
            <a:extLst>
              <a:ext uri="{FF2B5EF4-FFF2-40B4-BE49-F238E27FC236}">
                <a16:creationId xmlns:a16="http://schemas.microsoft.com/office/drawing/2014/main" id="{A2AA0DB0-7561-A7D1-273A-1967493CDAD6}"/>
              </a:ext>
            </a:extLst>
          </p:cNvPr>
          <p:cNvPicPr>
            <a:picLocks noChangeAspect="1"/>
          </p:cNvPicPr>
          <p:nvPr userDrawn="1"/>
        </p:nvPicPr>
        <p:blipFill>
          <a:blip r:embed="rId4">
            <a:extLst>
              <a:ext uri="{28A0092B-C50C-407E-A947-70E740481C1C}">
                <a14:useLocalDpi xmlns:a14="http://schemas.microsoft.com/office/drawing/2010/main" val="0"/>
              </a:ext>
            </a:extLst>
          </a:blip>
          <a:srcRect l="15399" t="26128" r="15912" b="31777"/>
          <a:stretch/>
        </p:blipFill>
        <p:spPr>
          <a:xfrm>
            <a:off x="10175966" y="6155614"/>
            <a:ext cx="1530531" cy="625130"/>
          </a:xfrm>
          <a:prstGeom prst="rect">
            <a:avLst/>
          </a:prstGeom>
        </p:spPr>
      </p:pic>
      <p:sp>
        <p:nvSpPr>
          <p:cNvPr id="12" name="Line 20">
            <a:extLst>
              <a:ext uri="{FF2B5EF4-FFF2-40B4-BE49-F238E27FC236}">
                <a16:creationId xmlns:a16="http://schemas.microsoft.com/office/drawing/2014/main" id="{EC63C671-337E-ADA0-77E0-F9CD180E59C9}"/>
              </a:ext>
            </a:extLst>
          </p:cNvPr>
          <p:cNvSpPr>
            <a:spLocks noChangeShapeType="1"/>
          </p:cNvSpPr>
          <p:nvPr userDrawn="1"/>
        </p:nvSpPr>
        <p:spPr bwMode="auto">
          <a:xfrm>
            <a:off x="838200" y="6080616"/>
            <a:ext cx="10868297" cy="0"/>
          </a:xfrm>
          <a:prstGeom prst="line">
            <a:avLst/>
          </a:prstGeom>
          <a:noFill/>
          <a:ln w="12700">
            <a:solidFill>
              <a:srgbClr val="002B52"/>
            </a:solidFill>
            <a:round/>
            <a:headEnd/>
            <a:tailEnd/>
          </a:ln>
        </p:spPr>
        <p:txBody>
          <a:bodyPr wrap="none" anchor="ctr"/>
          <a:lstStyle/>
          <a:p>
            <a:pPr algn="l" fontAlgn="auto">
              <a:spcBef>
                <a:spcPts val="0"/>
              </a:spcBef>
              <a:spcAft>
                <a:spcPts val="0"/>
              </a:spcAft>
              <a:buFontTx/>
              <a:buNone/>
              <a:defRPr/>
            </a:pPr>
            <a:endParaRPr lang="it-IT" sz="1800" b="0" dirty="0">
              <a:solidFill>
                <a:schemeClr val="tx1"/>
              </a:solidFill>
              <a:latin typeface="+mn-lt"/>
              <a:ea typeface="+mn-ea"/>
            </a:endParaRPr>
          </a:p>
        </p:txBody>
      </p:sp>
      <p:sp>
        <p:nvSpPr>
          <p:cNvPr id="13" name="Segnaposto numero diapositiva 5">
            <a:extLst>
              <a:ext uri="{FF2B5EF4-FFF2-40B4-BE49-F238E27FC236}">
                <a16:creationId xmlns:a16="http://schemas.microsoft.com/office/drawing/2014/main" id="{09774ACE-17D1-FB3C-39CC-75E0674C2965}"/>
              </a:ext>
            </a:extLst>
          </p:cNvPr>
          <p:cNvSpPr txBox="1">
            <a:spLocks/>
          </p:cNvSpPr>
          <p:nvPr userDrawn="1"/>
        </p:nvSpPr>
        <p:spPr>
          <a:xfrm>
            <a:off x="-1" y="6356350"/>
            <a:ext cx="591015" cy="365125"/>
          </a:xfrm>
          <a:prstGeom prst="rect">
            <a:avLst/>
          </a:prstGeom>
        </p:spPr>
        <p:txBody>
          <a:bodyPr/>
          <a:lstStyle>
            <a:defPPr>
              <a:defRPr lang="it-IT"/>
            </a:defPPr>
            <a:lvl1pPr marL="0" algn="l" defTabSz="914400" rtl="0" eaLnBrk="1" latinLnBrk="0" hangingPunct="1">
              <a:defRPr lang="it-IT" sz="1100" kern="1200" smtClean="0">
                <a:solidFill>
                  <a:srgbClr val="002B52"/>
                </a:solidFill>
                <a:latin typeface="Libre Franklin"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71B30E5-3971-FF46-BF2E-7C2F29F21BE8}" type="slidenum">
              <a:rPr lang="it-IT" b="1" smtClean="0">
                <a:solidFill>
                  <a:schemeClr val="bg1"/>
                </a:solidFill>
              </a:rPr>
              <a:pPr algn="r"/>
              <a:t>‹N›</a:t>
            </a:fld>
            <a:endParaRPr lang="it-IT" b="1" dirty="0">
              <a:solidFill>
                <a:schemeClr val="bg1"/>
              </a:solidFill>
            </a:endParaRPr>
          </a:p>
        </p:txBody>
      </p:sp>
    </p:spTree>
    <p:extLst>
      <p:ext uri="{BB962C8B-B14F-4D97-AF65-F5344CB8AC3E}">
        <p14:creationId xmlns:p14="http://schemas.microsoft.com/office/powerpoint/2010/main" val="547590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8F1BB573-8654-AA77-CC79-EACAF95E1E1A}"/>
              </a:ext>
            </a:extLst>
          </p:cNvPr>
          <p:cNvSpPr/>
          <p:nvPr userDrawn="1"/>
        </p:nvSpPr>
        <p:spPr>
          <a:xfrm>
            <a:off x="720001" y="0"/>
            <a:ext cx="11367593" cy="6858000"/>
          </a:xfrm>
          <a:prstGeom prst="rect">
            <a:avLst/>
          </a:prstGeom>
          <a:solidFill>
            <a:srgbClr val="002B52"/>
          </a:solidFill>
          <a:ln>
            <a:solidFill>
              <a:srgbClr val="002B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0" name="object 2">
            <a:extLst>
              <a:ext uri="{FF2B5EF4-FFF2-40B4-BE49-F238E27FC236}">
                <a16:creationId xmlns:a16="http://schemas.microsoft.com/office/drawing/2014/main" id="{CE6AC48E-9480-E446-7908-46A8B4160AB6}"/>
              </a:ext>
            </a:extLst>
          </p:cNvPr>
          <p:cNvPicPr/>
          <p:nvPr userDrawn="1"/>
        </p:nvPicPr>
        <p:blipFill>
          <a:blip r:embed="rId2" cstate="print"/>
          <a:stretch>
            <a:fillRect/>
          </a:stretch>
        </p:blipFill>
        <p:spPr>
          <a:xfrm>
            <a:off x="0" y="0"/>
            <a:ext cx="720001" cy="6858000"/>
          </a:xfrm>
          <a:prstGeom prst="rect">
            <a:avLst/>
          </a:prstGeom>
        </p:spPr>
      </p:pic>
      <p:pic>
        <p:nvPicPr>
          <p:cNvPr id="11" name="object 3">
            <a:extLst>
              <a:ext uri="{FF2B5EF4-FFF2-40B4-BE49-F238E27FC236}">
                <a16:creationId xmlns:a16="http://schemas.microsoft.com/office/drawing/2014/main" id="{2C50F2B9-F56A-531D-BFAC-6243A3711F3C}"/>
              </a:ext>
            </a:extLst>
          </p:cNvPr>
          <p:cNvPicPr/>
          <p:nvPr userDrawn="1"/>
        </p:nvPicPr>
        <p:blipFill>
          <a:blip r:embed="rId3" cstate="print"/>
          <a:stretch>
            <a:fillRect/>
          </a:stretch>
        </p:blipFill>
        <p:spPr>
          <a:xfrm>
            <a:off x="12087594" y="0"/>
            <a:ext cx="104406" cy="6858000"/>
          </a:xfrm>
          <a:prstGeom prst="rect">
            <a:avLst/>
          </a:prstGeom>
        </p:spPr>
      </p:pic>
      <p:pic>
        <p:nvPicPr>
          <p:cNvPr id="15" name="Immagine 14" descr="Immagine che contiene testo, Carattere, Elementi grafici, grafica  Descrizione generata automaticamente">
            <a:extLst>
              <a:ext uri="{FF2B5EF4-FFF2-40B4-BE49-F238E27FC236}">
                <a16:creationId xmlns:a16="http://schemas.microsoft.com/office/drawing/2014/main" id="{ADD9A95F-6D75-0933-263D-C3BF28782F51}"/>
              </a:ext>
            </a:extLst>
          </p:cNvPr>
          <p:cNvPicPr>
            <a:picLocks noChangeAspect="1"/>
          </p:cNvPicPr>
          <p:nvPr userDrawn="1"/>
        </p:nvPicPr>
        <p:blipFill>
          <a:blip r:embed="rId4"/>
          <a:stretch>
            <a:fillRect/>
          </a:stretch>
        </p:blipFill>
        <p:spPr>
          <a:xfrm>
            <a:off x="1231171" y="2794"/>
            <a:ext cx="5397500" cy="3594100"/>
          </a:xfrm>
          <a:prstGeom prst="rect">
            <a:avLst/>
          </a:prstGeom>
        </p:spPr>
      </p:pic>
    </p:spTree>
    <p:extLst>
      <p:ext uri="{BB962C8B-B14F-4D97-AF65-F5344CB8AC3E}">
        <p14:creationId xmlns:p14="http://schemas.microsoft.com/office/powerpoint/2010/main" val="313312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D0B03C84-59B3-122C-6A8F-D496650DB4F1}"/>
              </a:ext>
            </a:extLst>
          </p:cNvPr>
          <p:cNvSpPr/>
          <p:nvPr userDrawn="1"/>
        </p:nvSpPr>
        <p:spPr>
          <a:xfrm>
            <a:off x="720001" y="0"/>
            <a:ext cx="11367593" cy="6858000"/>
          </a:xfrm>
          <a:prstGeom prst="rect">
            <a:avLst/>
          </a:prstGeom>
          <a:solidFill>
            <a:srgbClr val="002B52"/>
          </a:solidFill>
          <a:ln>
            <a:solidFill>
              <a:srgbClr val="002B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6" name="Immagine 15" descr="Immagine che contiene testo, Carattere, Elementi grafici, grafica  Descrizione generata automaticamente">
            <a:extLst>
              <a:ext uri="{FF2B5EF4-FFF2-40B4-BE49-F238E27FC236}">
                <a16:creationId xmlns:a16="http://schemas.microsoft.com/office/drawing/2014/main" id="{3A777051-C1C9-6E72-7DED-B350C4DA1ECE}"/>
              </a:ext>
            </a:extLst>
          </p:cNvPr>
          <p:cNvPicPr>
            <a:picLocks noChangeAspect="1"/>
          </p:cNvPicPr>
          <p:nvPr userDrawn="1"/>
        </p:nvPicPr>
        <p:blipFill>
          <a:blip r:embed="rId2"/>
          <a:srcRect l="14264" t="26839" r="14042" b="34815"/>
          <a:stretch/>
        </p:blipFill>
        <p:spPr>
          <a:xfrm>
            <a:off x="10151849" y="6165907"/>
            <a:ext cx="1599363" cy="569636"/>
          </a:xfrm>
          <a:prstGeom prst="rect">
            <a:avLst/>
          </a:prstGeom>
        </p:spPr>
      </p:pic>
      <p:pic>
        <p:nvPicPr>
          <p:cNvPr id="12" name="object 2">
            <a:extLst>
              <a:ext uri="{FF2B5EF4-FFF2-40B4-BE49-F238E27FC236}">
                <a16:creationId xmlns:a16="http://schemas.microsoft.com/office/drawing/2014/main" id="{70EDE31E-B9C6-6DE5-7A17-FD5F6F7CF7B7}"/>
              </a:ext>
            </a:extLst>
          </p:cNvPr>
          <p:cNvPicPr/>
          <p:nvPr userDrawn="1"/>
        </p:nvPicPr>
        <p:blipFill>
          <a:blip r:embed="rId3" cstate="print"/>
          <a:stretch>
            <a:fillRect/>
          </a:stretch>
        </p:blipFill>
        <p:spPr>
          <a:xfrm>
            <a:off x="0" y="0"/>
            <a:ext cx="720001" cy="6858000"/>
          </a:xfrm>
          <a:prstGeom prst="rect">
            <a:avLst/>
          </a:prstGeom>
        </p:spPr>
      </p:pic>
      <p:pic>
        <p:nvPicPr>
          <p:cNvPr id="13" name="object 3">
            <a:extLst>
              <a:ext uri="{FF2B5EF4-FFF2-40B4-BE49-F238E27FC236}">
                <a16:creationId xmlns:a16="http://schemas.microsoft.com/office/drawing/2014/main" id="{F5AD195F-BCB8-38D8-0390-913E3B0E0C85}"/>
              </a:ext>
            </a:extLst>
          </p:cNvPr>
          <p:cNvPicPr/>
          <p:nvPr userDrawn="1"/>
        </p:nvPicPr>
        <p:blipFill>
          <a:blip r:embed="rId4" cstate="print"/>
          <a:stretch>
            <a:fillRect/>
          </a:stretch>
        </p:blipFill>
        <p:spPr>
          <a:xfrm>
            <a:off x="12087594" y="0"/>
            <a:ext cx="104406" cy="6858000"/>
          </a:xfrm>
          <a:prstGeom prst="rect">
            <a:avLst/>
          </a:prstGeom>
        </p:spPr>
      </p:pic>
      <p:sp>
        <p:nvSpPr>
          <p:cNvPr id="15" name="Line 20">
            <a:extLst>
              <a:ext uri="{FF2B5EF4-FFF2-40B4-BE49-F238E27FC236}">
                <a16:creationId xmlns:a16="http://schemas.microsoft.com/office/drawing/2014/main" id="{48CD5BE6-8AF8-B61E-20A0-F23C7907F238}"/>
              </a:ext>
            </a:extLst>
          </p:cNvPr>
          <p:cNvSpPr>
            <a:spLocks noChangeShapeType="1"/>
          </p:cNvSpPr>
          <p:nvPr userDrawn="1"/>
        </p:nvSpPr>
        <p:spPr bwMode="auto">
          <a:xfrm>
            <a:off x="838200" y="6080616"/>
            <a:ext cx="10868297" cy="0"/>
          </a:xfrm>
          <a:prstGeom prst="line">
            <a:avLst/>
          </a:prstGeom>
          <a:noFill/>
          <a:ln w="12700">
            <a:solidFill>
              <a:schemeClr val="bg1"/>
            </a:solidFill>
            <a:round/>
            <a:headEnd/>
            <a:tailEnd/>
          </a:ln>
        </p:spPr>
        <p:txBody>
          <a:bodyPr wrap="none" anchor="ctr"/>
          <a:lstStyle/>
          <a:p>
            <a:pPr algn="l" fontAlgn="auto">
              <a:spcBef>
                <a:spcPts val="0"/>
              </a:spcBef>
              <a:spcAft>
                <a:spcPts val="0"/>
              </a:spcAft>
              <a:buFontTx/>
              <a:buNone/>
              <a:defRPr/>
            </a:pPr>
            <a:endParaRPr lang="it-IT" sz="1800" b="0" dirty="0">
              <a:solidFill>
                <a:schemeClr val="tx1"/>
              </a:solidFill>
              <a:latin typeface="+mn-lt"/>
              <a:ea typeface="+mn-ea"/>
            </a:endParaRPr>
          </a:p>
        </p:txBody>
      </p:sp>
      <p:sp>
        <p:nvSpPr>
          <p:cNvPr id="17" name="Segnaposto numero diapositiva 5">
            <a:extLst>
              <a:ext uri="{FF2B5EF4-FFF2-40B4-BE49-F238E27FC236}">
                <a16:creationId xmlns:a16="http://schemas.microsoft.com/office/drawing/2014/main" id="{5A9374ED-E8E5-7170-5C73-C94658DD08B2}"/>
              </a:ext>
            </a:extLst>
          </p:cNvPr>
          <p:cNvSpPr txBox="1">
            <a:spLocks/>
          </p:cNvSpPr>
          <p:nvPr userDrawn="1"/>
        </p:nvSpPr>
        <p:spPr>
          <a:xfrm>
            <a:off x="-1" y="6356350"/>
            <a:ext cx="591015" cy="365125"/>
          </a:xfrm>
          <a:prstGeom prst="rect">
            <a:avLst/>
          </a:prstGeom>
        </p:spPr>
        <p:txBody>
          <a:bodyPr/>
          <a:lstStyle>
            <a:defPPr>
              <a:defRPr lang="it-IT"/>
            </a:defPPr>
            <a:lvl1pPr marL="0" algn="l" defTabSz="914400" rtl="0" eaLnBrk="1" latinLnBrk="0" hangingPunct="1">
              <a:defRPr lang="it-IT" sz="1100" kern="1200" smtClean="0">
                <a:solidFill>
                  <a:srgbClr val="002B52"/>
                </a:solidFill>
                <a:latin typeface="Libre Franklin"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71B30E5-3971-FF46-BF2E-7C2F29F21BE8}" type="slidenum">
              <a:rPr lang="it-IT" b="1" smtClean="0">
                <a:solidFill>
                  <a:schemeClr val="bg1"/>
                </a:solidFill>
              </a:rPr>
              <a:pPr algn="r"/>
              <a:t>‹N›</a:t>
            </a:fld>
            <a:endParaRPr lang="it-IT" b="1" dirty="0">
              <a:solidFill>
                <a:schemeClr val="bg1"/>
              </a:solidFill>
            </a:endParaRPr>
          </a:p>
        </p:txBody>
      </p:sp>
    </p:spTree>
    <p:extLst>
      <p:ext uri="{BB962C8B-B14F-4D97-AF65-F5344CB8AC3E}">
        <p14:creationId xmlns:p14="http://schemas.microsoft.com/office/powerpoint/2010/main" val="681215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223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2D7C865B-1A57-802D-4048-7106FF211EAB}"/>
              </a:ext>
            </a:extLst>
          </p:cNvPr>
          <p:cNvSpPr txBox="1"/>
          <p:nvPr/>
        </p:nvSpPr>
        <p:spPr>
          <a:xfrm>
            <a:off x="5832088" y="3429000"/>
            <a:ext cx="5653668" cy="461665"/>
          </a:xfrm>
          <a:prstGeom prst="rect">
            <a:avLst/>
          </a:prstGeom>
          <a:noFill/>
        </p:spPr>
        <p:txBody>
          <a:bodyPr wrap="square" rtlCol="0">
            <a:spAutoFit/>
          </a:bodyPr>
          <a:lstStyle/>
          <a:p>
            <a:r>
              <a:rPr lang="it-IT" sz="2400" dirty="0">
                <a:solidFill>
                  <a:srgbClr val="EF8F3A"/>
                </a:solidFill>
                <a:latin typeface="Libre Franklin Light" pitchFamily="2" charset="77"/>
              </a:rPr>
              <a:t>FRES Project: Internal Seminar</a:t>
            </a:r>
          </a:p>
        </p:txBody>
      </p:sp>
      <p:sp>
        <p:nvSpPr>
          <p:cNvPr id="7" name="CasellaDiTesto 6">
            <a:extLst>
              <a:ext uri="{FF2B5EF4-FFF2-40B4-BE49-F238E27FC236}">
                <a16:creationId xmlns:a16="http://schemas.microsoft.com/office/drawing/2014/main" id="{1B7177A1-3443-52D5-4D83-9C6E12E74BB5}"/>
              </a:ext>
            </a:extLst>
          </p:cNvPr>
          <p:cNvSpPr txBox="1"/>
          <p:nvPr/>
        </p:nvSpPr>
        <p:spPr>
          <a:xfrm>
            <a:off x="5832088" y="3863897"/>
            <a:ext cx="5653668" cy="400110"/>
          </a:xfrm>
          <a:prstGeom prst="rect">
            <a:avLst/>
          </a:prstGeom>
          <a:noFill/>
        </p:spPr>
        <p:txBody>
          <a:bodyPr wrap="square" rtlCol="0">
            <a:spAutoFit/>
          </a:bodyPr>
          <a:lstStyle/>
          <a:p>
            <a:r>
              <a:rPr lang="it-IT" sz="2000" dirty="0">
                <a:solidFill>
                  <a:srgbClr val="E13A3A"/>
                </a:solidFill>
                <a:latin typeface="Libre Franklin" pitchFamily="2" charset="77"/>
              </a:rPr>
              <a:t>Databases, Dashboards &amp; Research Agenda</a:t>
            </a:r>
          </a:p>
        </p:txBody>
      </p:sp>
      <p:sp>
        <p:nvSpPr>
          <p:cNvPr id="10" name="CasellaDiTesto 9">
            <a:extLst>
              <a:ext uri="{FF2B5EF4-FFF2-40B4-BE49-F238E27FC236}">
                <a16:creationId xmlns:a16="http://schemas.microsoft.com/office/drawing/2014/main" id="{7BA5E250-A75E-CABB-DEC3-B415F62B6342}"/>
              </a:ext>
            </a:extLst>
          </p:cNvPr>
          <p:cNvSpPr txBox="1"/>
          <p:nvPr/>
        </p:nvSpPr>
        <p:spPr>
          <a:xfrm>
            <a:off x="2319454" y="6205653"/>
            <a:ext cx="1605775" cy="338554"/>
          </a:xfrm>
          <a:prstGeom prst="rect">
            <a:avLst/>
          </a:prstGeom>
          <a:noFill/>
        </p:spPr>
        <p:txBody>
          <a:bodyPr wrap="square" rtlCol="0">
            <a:spAutoFit/>
          </a:bodyPr>
          <a:lstStyle/>
          <a:p>
            <a:r>
              <a:rPr lang="it-IT" sz="1600" i="1" dirty="0">
                <a:solidFill>
                  <a:srgbClr val="1D396B"/>
                </a:solidFill>
                <a:latin typeface="Libre Franklin" pitchFamily="2" charset="77"/>
              </a:rPr>
              <a:t>30 April 2026</a:t>
            </a:r>
          </a:p>
        </p:txBody>
      </p:sp>
      <p:sp>
        <p:nvSpPr>
          <p:cNvPr id="11" name="CasellaDiTesto 10">
            <a:extLst>
              <a:ext uri="{FF2B5EF4-FFF2-40B4-BE49-F238E27FC236}">
                <a16:creationId xmlns:a16="http://schemas.microsoft.com/office/drawing/2014/main" id="{A57036D4-6C62-B789-68F8-1585CEE0A19C}"/>
              </a:ext>
            </a:extLst>
          </p:cNvPr>
          <p:cNvSpPr txBox="1"/>
          <p:nvPr/>
        </p:nvSpPr>
        <p:spPr>
          <a:xfrm>
            <a:off x="5832088" y="6205653"/>
            <a:ext cx="5653668" cy="338554"/>
          </a:xfrm>
          <a:prstGeom prst="rect">
            <a:avLst/>
          </a:prstGeom>
          <a:noFill/>
        </p:spPr>
        <p:txBody>
          <a:bodyPr wrap="square" rtlCol="0">
            <a:spAutoFit/>
          </a:bodyPr>
          <a:lstStyle/>
          <a:p>
            <a:r>
              <a:rPr lang="it-IT" sz="1600" i="1" dirty="0">
                <a:solidFill>
                  <a:srgbClr val="1D396B"/>
                </a:solidFill>
                <a:latin typeface="Libre Franklin" pitchFamily="2" charset="77"/>
              </a:rPr>
              <a:t>Matteo Manera</a:t>
            </a:r>
            <a:endParaRPr lang="it-IT" sz="2000" i="1" dirty="0">
              <a:solidFill>
                <a:srgbClr val="1D396B"/>
              </a:solidFill>
              <a:latin typeface="Libre Franklin" pitchFamily="2" charset="77"/>
            </a:endParaRPr>
          </a:p>
        </p:txBody>
      </p:sp>
    </p:spTree>
    <p:extLst>
      <p:ext uri="{BB962C8B-B14F-4D97-AF65-F5344CB8AC3E}">
        <p14:creationId xmlns:p14="http://schemas.microsoft.com/office/powerpoint/2010/main" val="1606230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1235075" y="630630"/>
            <a:ext cx="10058756" cy="460000"/>
          </a:xfrm>
          <a:prstGeom prst="rect">
            <a:avLst/>
          </a:prstGeom>
          <a:noFill/>
        </p:spPr>
        <p:txBody>
          <a:bodyPr wrap="square" rtlCol="0">
            <a:spAutoFit/>
          </a:bodyPr>
          <a:lstStyle/>
          <a:p>
            <a:r>
              <a:rPr lang="en-US" sz="2200" dirty="0">
                <a:solidFill>
                  <a:srgbClr val="EF8F3A"/>
                </a:solidFill>
                <a:latin typeface="Libre Franklin Light" pitchFamily="2" charset="77"/>
              </a:rPr>
              <a:t>Welcome &amp; Acknowledgements</a:t>
            </a:r>
          </a:p>
        </p:txBody>
      </p:sp>
      <p:sp>
        <p:nvSpPr>
          <p:cNvPr id="3" name="subtitle"/>
          <p:cNvSpPr txBox="1"/>
          <p:nvPr/>
        </p:nvSpPr>
        <p:spPr>
          <a:xfrm>
            <a:off x="1235075" y="1060000"/>
            <a:ext cx="10058756" cy="360000"/>
          </a:xfrm>
          <a:prstGeom prst="rect">
            <a:avLst/>
          </a:prstGeom>
          <a:noFill/>
        </p:spPr>
        <p:txBody>
          <a:bodyPr wrap="square" rtlCol="0">
            <a:spAutoFit/>
          </a:bodyPr>
          <a:lstStyle/>
          <a:p>
            <a:r>
              <a:rPr lang="en-US" sz="1600" i="1" dirty="0">
                <a:solidFill>
                  <a:srgbClr val="E13A3A"/>
                </a:solidFill>
                <a:latin typeface="Libre Franklin Light" pitchFamily="2" charset="77"/>
              </a:rPr>
              <a:t>Opening remarks</a:t>
            </a:r>
          </a:p>
        </p:txBody>
      </p:sp>
      <p:sp>
        <p:nvSpPr>
          <p:cNvPr id="4" name="body"/>
          <p:cNvSpPr txBox="1"/>
          <p:nvPr/>
        </p:nvSpPr>
        <p:spPr>
          <a:xfrm>
            <a:off x="1235075" y="1550000"/>
            <a:ext cx="10058756" cy="1810752"/>
          </a:xfrm>
          <a:prstGeom prst="rect">
            <a:avLst/>
          </a:prstGeom>
          <a:noFill/>
        </p:spPr>
        <p:txBody>
          <a:bodyPr wrap="square" rtlCol="0">
            <a:spAutoFit/>
          </a:bodyPr>
          <a:lstStyle/>
          <a:p>
            <a:pPr algn="just">
              <a:spcBef>
                <a:spcPts val="0"/>
              </a:spcBef>
            </a:pPr>
            <a:r>
              <a:rPr lang="en-US" sz="1500" b="1" dirty="0">
                <a:solidFill>
                  <a:srgbClr val="EF8F3A"/>
                </a:solidFill>
                <a:effectLst/>
                <a:latin typeface="Libre Franklin" pitchFamily="2" charset="77"/>
              </a:rPr>
              <a:t>Thank you to the FRES research team</a:t>
            </a:r>
          </a:p>
          <a:p>
            <a:pPr algn="just">
              <a:spcBef>
                <a:spcPts val="300"/>
              </a:spcBef>
            </a:pPr>
            <a:r>
              <a:rPr lang="en-US" sz="1400" dirty="0">
                <a:solidFill>
                  <a:srgbClr val="1D396B"/>
                </a:solidFill>
                <a:effectLst/>
                <a:latin typeface="Libre Franklin" pitchFamily="2" charset="77"/>
              </a:rPr>
              <a:t>A warm welcome to all the researchers contributing to this project — Chiara Casoli, Alessio </a:t>
            </a:r>
            <a:r>
              <a:rPr lang="en-US" sz="1400" dirty="0" err="1">
                <a:solidFill>
                  <a:srgbClr val="1D396B"/>
                </a:solidFill>
                <a:effectLst/>
                <a:latin typeface="Libre Franklin" pitchFamily="2" charset="77"/>
              </a:rPr>
              <a:t>Chiodin</a:t>
            </a:r>
            <a:r>
              <a:rPr lang="en-US" sz="1400" dirty="0">
                <a:solidFill>
                  <a:srgbClr val="1D396B"/>
                </a:solidFill>
                <a:effectLst/>
                <a:latin typeface="Libre Franklin" pitchFamily="2" charset="77"/>
              </a:rPr>
              <a:t>, Alessandra </a:t>
            </a:r>
            <a:r>
              <a:rPr lang="en-US" sz="1400" dirty="0" err="1">
                <a:solidFill>
                  <a:srgbClr val="1D396B"/>
                </a:solidFill>
                <a:effectLst/>
                <a:latin typeface="Libre Franklin" pitchFamily="2" charset="77"/>
              </a:rPr>
              <a:t>Gambera</a:t>
            </a:r>
            <a:r>
              <a:rPr lang="en-US" sz="1400" dirty="0">
                <a:solidFill>
                  <a:srgbClr val="1D396B"/>
                </a:solidFill>
                <a:effectLst/>
                <a:latin typeface="Libre Franklin" pitchFamily="2" charset="77"/>
              </a:rPr>
              <a:t>, Paolo Maranzano, Gianluca </a:t>
            </a:r>
            <a:r>
              <a:rPr lang="en-US" sz="1400" dirty="0" err="1">
                <a:solidFill>
                  <a:srgbClr val="1D396B"/>
                </a:solidFill>
                <a:effectLst/>
                <a:latin typeface="Libre Franklin" pitchFamily="2" charset="77"/>
              </a:rPr>
              <a:t>Monturano</a:t>
            </a:r>
            <a:r>
              <a:rPr lang="en-US" sz="1400" dirty="0">
                <a:solidFill>
                  <a:srgbClr val="1D396B"/>
                </a:solidFill>
                <a:effectLst/>
                <a:latin typeface="Libre Franklin" pitchFamily="2" charset="77"/>
              </a:rPr>
              <a:t>, Luca </a:t>
            </a:r>
            <a:r>
              <a:rPr lang="en-US" sz="1400" dirty="0" err="1">
                <a:solidFill>
                  <a:srgbClr val="1D396B"/>
                </a:solidFill>
                <a:effectLst/>
                <a:latin typeface="Libre Franklin" pitchFamily="2" charset="77"/>
              </a:rPr>
              <a:t>Pedini</a:t>
            </a:r>
            <a:r>
              <a:rPr lang="en-US" sz="1400" dirty="0">
                <a:solidFill>
                  <a:srgbClr val="1D396B"/>
                </a:solidFill>
                <a:effectLst/>
                <a:latin typeface="Libre Franklin" pitchFamily="2" charset="77"/>
              </a:rPr>
              <a:t> and Daniele </a:t>
            </a:r>
            <a:r>
              <a:rPr lang="en-US" sz="1400" dirty="0" err="1">
                <a:solidFill>
                  <a:srgbClr val="1D396B"/>
                </a:solidFill>
                <a:effectLst/>
                <a:latin typeface="Libre Franklin" pitchFamily="2" charset="77"/>
              </a:rPr>
              <a:t>Valenti</a:t>
            </a:r>
            <a:r>
              <a:rPr lang="en-US" sz="1400" dirty="0">
                <a:solidFill>
                  <a:srgbClr val="1D396B"/>
                </a:solidFill>
                <a:effectLst/>
                <a:latin typeface="Libre Franklin" pitchFamily="2" charset="77"/>
              </a:rPr>
              <a:t>. Their rigour and commitment are the backbone of this work.</a:t>
            </a:r>
          </a:p>
          <a:p>
            <a:pPr algn="just">
              <a:spcBef>
                <a:spcPts val="800"/>
              </a:spcBef>
            </a:pPr>
            <a:r>
              <a:rPr lang="en-US" sz="1500" b="1" dirty="0">
                <a:solidFill>
                  <a:srgbClr val="EF8F3A"/>
                </a:solidFill>
                <a:effectLst/>
                <a:latin typeface="Libre Franklin" pitchFamily="2" charset="77"/>
              </a:rPr>
              <a:t>Special thanks to our guests from JRC Ispra — joining us online</a:t>
            </a:r>
          </a:p>
          <a:p>
            <a:pPr algn="just">
              <a:spcBef>
                <a:spcPts val="300"/>
              </a:spcBef>
            </a:pPr>
            <a:r>
              <a:rPr lang="en-US" sz="1400" dirty="0">
                <a:solidFill>
                  <a:srgbClr val="1D396B"/>
                </a:solidFill>
                <a:effectLst/>
                <a:latin typeface="Libre Franklin" pitchFamily="2" charset="77"/>
              </a:rPr>
              <a:t>We are delighted to welcome XXXX and YYYYY, from the European Commission’s Joint Research Centre (JRC) in Ispra, responsible for the maintenance and development of the ARDECO database — one of the key macroeconomic data sources feeding into our project. Their expertise and collaboration are invaluable to the FRES research agenda.</a:t>
            </a:r>
          </a:p>
        </p:txBody>
      </p:sp>
      <p:sp>
        <p:nvSpPr>
          <p:cNvPr id="5" name="footer"/>
          <p:cNvSpPr txBox="1">
            <a:spLocks/>
          </p:cNvSpPr>
          <p:nvPr/>
        </p:nvSpPr>
        <p:spPr>
          <a:xfrm>
            <a:off x="838200" y="6356350"/>
            <a:ext cx="10158756" cy="365125"/>
          </a:xfrm>
          <a:prstGeom prst="rect">
            <a:avLst/>
          </a:prstGeom>
        </p:spPr>
        <p:txBody>
          <a:bodyPr/>
          <a:lstStyle/>
          <a:p>
            <a:r>
              <a:rPr lang="en-US" sz="1100" dirty="0">
                <a:solidFill>
                  <a:srgbClr val="002B52"/>
                </a:solidFill>
                <a:latin typeface="Libre Franklin" pitchFamily="2" charset="77"/>
              </a:rPr>
              <a:t>FRES Project — Internal Seminar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1235075" y="630630"/>
            <a:ext cx="10058756" cy="460000"/>
          </a:xfrm>
          <a:prstGeom prst="rect">
            <a:avLst/>
          </a:prstGeom>
          <a:noFill/>
        </p:spPr>
        <p:txBody>
          <a:bodyPr wrap="square" rtlCol="0">
            <a:spAutoFit/>
          </a:bodyPr>
          <a:lstStyle/>
          <a:p>
            <a:r>
              <a:rPr lang="en-US" sz="2200" dirty="0">
                <a:solidFill>
                  <a:srgbClr val="EF8F3A"/>
                </a:solidFill>
                <a:latin typeface="Libre Franklin Light" pitchFamily="2" charset="77"/>
              </a:rPr>
              <a:t>The FRES Project: Two Souls, One Vision</a:t>
            </a:r>
          </a:p>
        </p:txBody>
      </p:sp>
      <p:sp>
        <p:nvSpPr>
          <p:cNvPr id="3" name="subtitle"/>
          <p:cNvSpPr txBox="1"/>
          <p:nvPr/>
        </p:nvSpPr>
        <p:spPr>
          <a:xfrm>
            <a:off x="1235075" y="1060000"/>
            <a:ext cx="10058756" cy="360000"/>
          </a:xfrm>
          <a:prstGeom prst="rect">
            <a:avLst/>
          </a:prstGeom>
          <a:noFill/>
        </p:spPr>
        <p:txBody>
          <a:bodyPr wrap="square" rtlCol="0">
            <a:spAutoFit/>
          </a:bodyPr>
          <a:lstStyle/>
          <a:p>
            <a:r>
              <a:rPr lang="en-US" sz="1600" i="1" dirty="0">
                <a:solidFill>
                  <a:srgbClr val="E13A3A"/>
                </a:solidFill>
                <a:latin typeface="Libre Franklin Light" pitchFamily="2" charset="77"/>
              </a:rPr>
              <a:t>Socio-economic heterogeneity in Italy before and after COVID-19</a:t>
            </a:r>
          </a:p>
        </p:txBody>
      </p:sp>
      <p:sp>
        <p:nvSpPr>
          <p:cNvPr id="4" name="body"/>
          <p:cNvSpPr txBox="1"/>
          <p:nvPr/>
        </p:nvSpPr>
        <p:spPr>
          <a:xfrm>
            <a:off x="1235075" y="1550000"/>
            <a:ext cx="10058756" cy="4700000"/>
          </a:xfrm>
          <a:prstGeom prst="rect">
            <a:avLst/>
          </a:prstGeom>
          <a:noFill/>
        </p:spPr>
        <p:txBody>
          <a:bodyPr wrap="square" rtlCol="0">
            <a:spAutoFit/>
          </a:bodyPr>
          <a:lstStyle/>
          <a:p>
            <a:pPr algn="just">
              <a:spcBef>
                <a:spcPts val="0"/>
              </a:spcBef>
            </a:pPr>
            <a:r>
              <a:rPr lang="en-US" sz="1500" b="1" dirty="0">
                <a:solidFill>
                  <a:srgbClr val="EF8F3A"/>
                </a:solidFill>
                <a:effectLst/>
                <a:latin typeface="Libre Franklin" pitchFamily="2" charset="77"/>
              </a:rPr>
              <a:t>A 24-month individual research project funded by MUR</a:t>
            </a:r>
          </a:p>
          <a:p>
            <a:pPr algn="just">
              <a:spcBef>
                <a:spcPts val="300"/>
              </a:spcBef>
            </a:pPr>
            <a:r>
              <a:rPr lang="en-US" sz="1400" dirty="0">
                <a:solidFill>
                  <a:srgbClr val="1D396B"/>
                </a:solidFill>
                <a:effectLst/>
                <a:latin typeface="Libre Franklin" pitchFamily="2" charset="77"/>
              </a:rPr>
              <a:t>The Fondo per la Ricerca Economica e Sociale (FRES) project investigates territorial inequalities across Italian municipalities, analysing how the COVID-19 pandemic reshaped the map of socio-economic fragility — and comparing Italy’s trajectory with the broader European context.</a:t>
            </a:r>
          </a:p>
          <a:p>
            <a:pPr algn="just">
              <a:spcBef>
                <a:spcPts val="800"/>
              </a:spcBef>
            </a:pPr>
            <a:r>
              <a:rPr lang="en-US" sz="1500" b="1" dirty="0">
                <a:solidFill>
                  <a:srgbClr val="EF8F3A"/>
                </a:solidFill>
                <a:effectLst/>
                <a:latin typeface="Libre Franklin" pitchFamily="2" charset="77"/>
              </a:rPr>
              <a:t>Macro soul: convergence and divergence across European regions</a:t>
            </a:r>
          </a:p>
          <a:p>
            <a:pPr algn="just">
              <a:spcBef>
                <a:spcPts val="300"/>
              </a:spcBef>
            </a:pPr>
            <a:r>
              <a:rPr lang="en-US" sz="1400" dirty="0">
                <a:solidFill>
                  <a:srgbClr val="1D396B"/>
                </a:solidFill>
                <a:effectLst/>
                <a:latin typeface="Libre Franklin" pitchFamily="2" charset="77"/>
              </a:rPr>
              <a:t>Using provincial-level data from Eurostat and ARDECO, we track macroeconomic convergence trends before and after the pandemic, positioning Italy’s regions within the European landscape and identifying peer regions that can serve as policy benchmarks.</a:t>
            </a:r>
          </a:p>
          <a:p>
            <a:pPr algn="just">
              <a:spcBef>
                <a:spcPts val="800"/>
              </a:spcBef>
            </a:pPr>
            <a:r>
              <a:rPr lang="en-US" sz="1500" b="1" dirty="0">
                <a:solidFill>
                  <a:srgbClr val="EF8F3A"/>
                </a:solidFill>
                <a:effectLst/>
                <a:latin typeface="Libre Franklin" pitchFamily="2" charset="77"/>
              </a:rPr>
              <a:t>Micro soul: granular analysis at the municipal level</a:t>
            </a:r>
          </a:p>
          <a:p>
            <a:pPr algn="just">
              <a:spcBef>
                <a:spcPts val="300"/>
              </a:spcBef>
            </a:pPr>
            <a:r>
              <a:rPr lang="en-US" sz="1400" dirty="0">
                <a:solidFill>
                  <a:srgbClr val="1D396B"/>
                </a:solidFill>
                <a:effectLst/>
                <a:latin typeface="Libre Franklin" pitchFamily="2" charset="77"/>
              </a:rPr>
              <a:t>Drawing on a rich geo-referenced panel dataset (2015–2023), we map clusters of socio-economic fragility across Italian municipalities, assess the heterogeneous impact of support policies, and develop spatial and econometric models to guide localised policy interventions.</a:t>
            </a:r>
          </a:p>
        </p:txBody>
      </p:sp>
      <p:sp>
        <p:nvSpPr>
          <p:cNvPr id="5" name="footer"/>
          <p:cNvSpPr txBox="1">
            <a:spLocks/>
          </p:cNvSpPr>
          <p:nvPr/>
        </p:nvSpPr>
        <p:spPr>
          <a:xfrm>
            <a:off x="838200" y="6356350"/>
            <a:ext cx="10158756" cy="365125"/>
          </a:xfrm>
          <a:prstGeom prst="rect">
            <a:avLst/>
          </a:prstGeom>
        </p:spPr>
        <p:txBody>
          <a:bodyPr/>
          <a:lstStyle/>
          <a:p>
            <a:r>
              <a:rPr lang="en-US" sz="1100" dirty="0">
                <a:solidFill>
                  <a:srgbClr val="002B52"/>
                </a:solidFill>
                <a:latin typeface="Libre Franklin" pitchFamily="2" charset="77"/>
              </a:rPr>
              <a:t>FRES Project — Internal Seminar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1235075" y="630630"/>
            <a:ext cx="10058756" cy="460000"/>
          </a:xfrm>
          <a:prstGeom prst="rect">
            <a:avLst/>
          </a:prstGeom>
          <a:noFill/>
        </p:spPr>
        <p:txBody>
          <a:bodyPr wrap="square" rtlCol="0">
            <a:spAutoFit/>
          </a:bodyPr>
          <a:lstStyle/>
          <a:p>
            <a:r>
              <a:rPr lang="en-US" sz="2200" dirty="0">
                <a:solidFill>
                  <a:srgbClr val="EF8F3A"/>
                </a:solidFill>
                <a:latin typeface="Libre Franklin Light" pitchFamily="2" charset="77"/>
              </a:rPr>
              <a:t>Today’s Session: Focus on Data</a:t>
            </a:r>
          </a:p>
        </p:txBody>
      </p:sp>
      <p:sp>
        <p:nvSpPr>
          <p:cNvPr id="3" name="subtitle"/>
          <p:cNvSpPr txBox="1"/>
          <p:nvPr/>
        </p:nvSpPr>
        <p:spPr>
          <a:xfrm>
            <a:off x="1235075" y="1060000"/>
            <a:ext cx="10058756" cy="360000"/>
          </a:xfrm>
          <a:prstGeom prst="rect">
            <a:avLst/>
          </a:prstGeom>
          <a:noFill/>
        </p:spPr>
        <p:txBody>
          <a:bodyPr wrap="square" rtlCol="0">
            <a:spAutoFit/>
          </a:bodyPr>
          <a:lstStyle/>
          <a:p>
            <a:r>
              <a:rPr lang="en-US" sz="1600" i="1" dirty="0">
                <a:solidFill>
                  <a:srgbClr val="E13A3A"/>
                </a:solidFill>
                <a:latin typeface="Libre Franklin Light" pitchFamily="2" charset="77"/>
              </a:rPr>
              <a:t>Datasets, dashboards, and the road ahead</a:t>
            </a:r>
          </a:p>
        </p:txBody>
      </p:sp>
      <p:sp>
        <p:nvSpPr>
          <p:cNvPr id="4" name="body"/>
          <p:cNvSpPr txBox="1"/>
          <p:nvPr/>
        </p:nvSpPr>
        <p:spPr>
          <a:xfrm>
            <a:off x="1235075" y="1550000"/>
            <a:ext cx="10058756" cy="4700000"/>
          </a:xfrm>
          <a:prstGeom prst="rect">
            <a:avLst/>
          </a:prstGeom>
          <a:noFill/>
        </p:spPr>
        <p:txBody>
          <a:bodyPr wrap="square" rtlCol="0">
            <a:spAutoFit/>
          </a:bodyPr>
          <a:lstStyle/>
          <a:p>
            <a:pPr algn="just">
              <a:spcBef>
                <a:spcPts val="0"/>
              </a:spcBef>
            </a:pPr>
            <a:r>
              <a:rPr lang="en-US" sz="1500" b="1" dirty="0">
                <a:solidFill>
                  <a:srgbClr val="EF8F3A"/>
                </a:solidFill>
                <a:effectLst/>
                <a:latin typeface="Libre Franklin" pitchFamily="2" charset="77"/>
              </a:rPr>
              <a:t>What we will cover today</a:t>
            </a:r>
          </a:p>
          <a:p>
            <a:pPr algn="just">
              <a:spcBef>
                <a:spcPts val="300"/>
              </a:spcBef>
            </a:pPr>
            <a:r>
              <a:rPr lang="en-US" sz="1400" dirty="0">
                <a:solidFill>
                  <a:srgbClr val="1D396B"/>
                </a:solidFill>
                <a:effectLst/>
                <a:latin typeface="Libre Franklin" pitchFamily="2" charset="77"/>
              </a:rPr>
              <a:t>The presentation that follows will walk through the datasets that make up our macro and micro databases — their sources, scope, harmonisation, and the variables they contribute to our analyses. The scientific results built on these data will not be presented today; they are reserved for a dedicated workshop.</a:t>
            </a:r>
          </a:p>
          <a:p>
            <a:pPr algn="just">
              <a:spcBef>
                <a:spcPts val="800"/>
              </a:spcBef>
            </a:pPr>
            <a:r>
              <a:rPr lang="en-US" sz="1500" b="1" dirty="0">
                <a:solidFill>
                  <a:srgbClr val="EF8F3A"/>
                </a:solidFill>
                <a:effectLst/>
                <a:latin typeface="Libre Franklin" pitchFamily="2" charset="77"/>
              </a:rPr>
              <a:t>Coming up: a dedicated scientific &amp; policy workshop (by end 2026)</a:t>
            </a:r>
          </a:p>
          <a:p>
            <a:pPr algn="just">
              <a:spcBef>
                <a:spcPts val="300"/>
              </a:spcBef>
            </a:pPr>
            <a:r>
              <a:rPr lang="en-US" sz="1400" dirty="0">
                <a:solidFill>
                  <a:srgbClr val="1D396B"/>
                </a:solidFill>
                <a:effectLst/>
                <a:latin typeface="Libre Franklin" pitchFamily="2" charset="77"/>
              </a:rPr>
              <a:t>We are planning a full workshop before the end of 2026. It will feature a scientific session — presenting our work alongside contributions from other Italian and international researchers on related themes — and a policy-oriented roundtable bringing together non-academic stakeholders for a broader societal conversation.</a:t>
            </a:r>
          </a:p>
          <a:p>
            <a:pPr algn="just">
              <a:spcBef>
                <a:spcPts val="800"/>
              </a:spcBef>
            </a:pPr>
            <a:r>
              <a:rPr lang="en-US" sz="1500" b="1" dirty="0">
                <a:solidFill>
                  <a:srgbClr val="EF8F3A"/>
                </a:solidFill>
                <a:effectLst/>
                <a:latin typeface="Libre Franklin" pitchFamily="2" charset="77"/>
              </a:rPr>
              <a:t>Interactive dashboards: bringing data to life</a:t>
            </a:r>
          </a:p>
          <a:p>
            <a:pPr algn="just">
              <a:spcBef>
                <a:spcPts val="300"/>
              </a:spcBef>
            </a:pPr>
            <a:r>
              <a:rPr lang="en-US" sz="1400" dirty="0">
                <a:solidFill>
                  <a:srgbClr val="1D396B"/>
                </a:solidFill>
                <a:effectLst/>
                <a:latin typeface="Libre Franklin" pitchFamily="2" charset="77"/>
              </a:rPr>
              <a:t>Both the macro and micro databases are accessible through dedicated interactive dashboards, which will be demonstrated during today’s session. These tools allow users to explore, filter, and visualise the data directly, making them a powerful resource for researchers and communicators alike.</a:t>
            </a:r>
          </a:p>
        </p:txBody>
      </p:sp>
      <p:sp>
        <p:nvSpPr>
          <p:cNvPr id="5" name="footer"/>
          <p:cNvSpPr txBox="1">
            <a:spLocks/>
          </p:cNvSpPr>
          <p:nvPr/>
        </p:nvSpPr>
        <p:spPr>
          <a:xfrm>
            <a:off x="838200" y="6356350"/>
            <a:ext cx="10158756" cy="365125"/>
          </a:xfrm>
          <a:prstGeom prst="rect">
            <a:avLst/>
          </a:prstGeom>
        </p:spPr>
        <p:txBody>
          <a:bodyPr/>
          <a:lstStyle/>
          <a:p>
            <a:r>
              <a:rPr lang="en-US" sz="1100" dirty="0">
                <a:solidFill>
                  <a:srgbClr val="002B52"/>
                </a:solidFill>
                <a:latin typeface="Libre Franklin" pitchFamily="2" charset="77"/>
              </a:rPr>
              <a:t>FRES Project — Internal Seminar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1235075" y="630630"/>
            <a:ext cx="10058756" cy="460000"/>
          </a:xfrm>
          <a:prstGeom prst="rect">
            <a:avLst/>
          </a:prstGeom>
          <a:noFill/>
        </p:spPr>
        <p:txBody>
          <a:bodyPr wrap="square" rtlCol="0">
            <a:spAutoFit/>
          </a:bodyPr>
          <a:lstStyle/>
          <a:p>
            <a:r>
              <a:rPr lang="en-US" sz="2200" dirty="0">
                <a:solidFill>
                  <a:srgbClr val="EF8F3A"/>
                </a:solidFill>
                <a:latin typeface="Libre Franklin Light" pitchFamily="2" charset="77"/>
              </a:rPr>
              <a:t>Open Data, Open Science</a:t>
            </a:r>
          </a:p>
        </p:txBody>
      </p:sp>
      <p:sp>
        <p:nvSpPr>
          <p:cNvPr id="3" name="subtitle"/>
          <p:cNvSpPr txBox="1"/>
          <p:nvPr/>
        </p:nvSpPr>
        <p:spPr>
          <a:xfrm>
            <a:off x="1235075" y="1060000"/>
            <a:ext cx="10058756" cy="360000"/>
          </a:xfrm>
          <a:prstGeom prst="rect">
            <a:avLst/>
          </a:prstGeom>
          <a:noFill/>
        </p:spPr>
        <p:txBody>
          <a:bodyPr wrap="square" rtlCol="0">
            <a:spAutoFit/>
          </a:bodyPr>
          <a:lstStyle/>
          <a:p>
            <a:r>
              <a:rPr lang="en-US" sz="1600" i="1" dirty="0">
                <a:solidFill>
                  <a:srgbClr val="E13A3A"/>
                </a:solidFill>
                <a:latin typeface="Libre Franklin Light" pitchFamily="2" charset="77"/>
              </a:rPr>
              <a:t>Accessibility, updates, and FEEM's strategic positioning</a:t>
            </a:r>
          </a:p>
        </p:txBody>
      </p:sp>
      <p:sp>
        <p:nvSpPr>
          <p:cNvPr id="4" name="body"/>
          <p:cNvSpPr txBox="1"/>
          <p:nvPr/>
        </p:nvSpPr>
        <p:spPr>
          <a:xfrm>
            <a:off x="1235075" y="1550000"/>
            <a:ext cx="10058756" cy="4700000"/>
          </a:xfrm>
          <a:prstGeom prst="rect">
            <a:avLst/>
          </a:prstGeom>
          <a:noFill/>
        </p:spPr>
        <p:txBody>
          <a:bodyPr wrap="square" rtlCol="0">
            <a:spAutoFit/>
          </a:bodyPr>
          <a:lstStyle/>
          <a:p>
            <a:pPr algn="just">
              <a:spcBef>
                <a:spcPts val="0"/>
              </a:spcBef>
            </a:pPr>
            <a:r>
              <a:rPr lang="en-US" sz="1500" b="1" dirty="0">
                <a:solidFill>
                  <a:srgbClr val="EF8F3A"/>
                </a:solidFill>
                <a:effectLst/>
                <a:latin typeface="Libre Franklin" pitchFamily="2" charset="77"/>
              </a:rPr>
              <a:t>Data available to FEEM researchers and beyond</a:t>
            </a:r>
          </a:p>
          <a:p>
            <a:pPr algn="just">
              <a:spcBef>
                <a:spcPts val="300"/>
              </a:spcBef>
            </a:pPr>
            <a:r>
              <a:rPr lang="en-US" sz="1400" dirty="0">
                <a:solidFill>
                  <a:srgbClr val="1D396B"/>
                </a:solidFill>
                <a:effectLst/>
                <a:latin typeface="Libre Franklin" pitchFamily="2" charset="77"/>
              </a:rPr>
              <a:t>All FRES datasets are available to FEEM researchers wishing to work on related themes. Access for external users — through the FEEM website — is also envisioned, with modalities still to be defined. This openness is a deliberate choice: it amplifies FEEM’s visibility and makes our research infrastructure attractive to third parties.</a:t>
            </a:r>
          </a:p>
          <a:p>
            <a:pPr algn="just">
              <a:spcBef>
                <a:spcPts val="800"/>
              </a:spcBef>
            </a:pPr>
            <a:r>
              <a:rPr lang="en-US" sz="1500" b="1" dirty="0">
                <a:solidFill>
                  <a:srgbClr val="EF8F3A"/>
                </a:solidFill>
                <a:effectLst/>
                <a:latin typeface="Libre Franklin" pitchFamily="2" charset="77"/>
              </a:rPr>
              <a:t>Regularly updated: research on multiple time horizons</a:t>
            </a:r>
          </a:p>
          <a:p>
            <a:pPr algn="just">
              <a:spcBef>
                <a:spcPts val="300"/>
              </a:spcBef>
            </a:pPr>
            <a:r>
              <a:rPr lang="en-US" sz="1400" dirty="0">
                <a:solidFill>
                  <a:srgbClr val="1D396B"/>
                </a:solidFill>
                <a:effectLst/>
                <a:latin typeface="Libre Franklin" pitchFamily="2" charset="77"/>
              </a:rPr>
              <a:t>Data are updated on a periodic basis. This allows the project to serve two complementary purposes: supporting medium-to-long-term academic publications, and enabling rapid-turnaround outputs — policy briefs and FEEM positioning notes on topical issues — at very short notice.</a:t>
            </a:r>
          </a:p>
          <a:p>
            <a:pPr algn="just">
              <a:spcBef>
                <a:spcPts val="800"/>
              </a:spcBef>
            </a:pPr>
            <a:r>
              <a:rPr lang="en-US" sz="1500" b="1" dirty="0">
                <a:solidFill>
                  <a:srgbClr val="EF8F3A"/>
                </a:solidFill>
                <a:effectLst/>
                <a:latin typeface="Libre Franklin" pitchFamily="2" charset="77"/>
              </a:rPr>
              <a:t>Sustained impact beyond the project’s timeline</a:t>
            </a:r>
          </a:p>
          <a:p>
            <a:pPr algn="just">
              <a:spcBef>
                <a:spcPts val="300"/>
              </a:spcBef>
            </a:pPr>
            <a:r>
              <a:rPr lang="en-US" sz="1400" dirty="0">
                <a:solidFill>
                  <a:srgbClr val="1D396B"/>
                </a:solidFill>
                <a:effectLst/>
                <a:latin typeface="Libre Franklin" pitchFamily="2" charset="77"/>
              </a:rPr>
              <a:t>The ambition is to build a data and research infrastructure that outlasts the FRES funding period, anchoring FEEM’s profile in territorial economics, inequality studies, and evidence-based policy in Italy and Europe.</a:t>
            </a:r>
          </a:p>
        </p:txBody>
      </p:sp>
      <p:sp>
        <p:nvSpPr>
          <p:cNvPr id="5" name="footer"/>
          <p:cNvSpPr txBox="1">
            <a:spLocks/>
          </p:cNvSpPr>
          <p:nvPr/>
        </p:nvSpPr>
        <p:spPr>
          <a:xfrm>
            <a:off x="838200" y="6356350"/>
            <a:ext cx="10158756" cy="365125"/>
          </a:xfrm>
          <a:prstGeom prst="rect">
            <a:avLst/>
          </a:prstGeom>
        </p:spPr>
        <p:txBody>
          <a:bodyPr/>
          <a:lstStyle/>
          <a:p>
            <a:r>
              <a:rPr lang="en-US" sz="1100" dirty="0">
                <a:solidFill>
                  <a:srgbClr val="002B52"/>
                </a:solidFill>
                <a:latin typeface="Libre Franklin" pitchFamily="2" charset="77"/>
              </a:rPr>
              <a:t>FRES Project — Internal Seminar</a:t>
            </a:r>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681</Words>
  <Application>Microsoft Office PowerPoint</Application>
  <PresentationFormat>Widescreen</PresentationFormat>
  <Paragraphs>38</Paragraphs>
  <Slides>5</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5</vt:i4>
      </vt:variant>
    </vt:vector>
  </HeadingPairs>
  <TitlesOfParts>
    <vt:vector size="10" baseType="lpstr">
      <vt:lpstr>Aptos</vt:lpstr>
      <vt:lpstr>Arial</vt:lpstr>
      <vt:lpstr>Libre Franklin</vt:lpstr>
      <vt:lpstr>Libre Franklin Light</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Office 365</dc:creator>
  <cp:lastModifiedBy>Matteo Manera</cp:lastModifiedBy>
  <cp:revision>6</cp:revision>
  <dcterms:created xsi:type="dcterms:W3CDTF">2024-10-15T15:28:10Z</dcterms:created>
  <dcterms:modified xsi:type="dcterms:W3CDTF">2026-04-26T15:49:20Z</dcterms:modified>
</cp:coreProperties>
</file>